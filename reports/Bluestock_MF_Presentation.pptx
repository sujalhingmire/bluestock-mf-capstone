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Top AMCs by AUM (₹ Crore)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(₹ Cr)</c:v>
                </c:pt>
              </c:strCache>
            </c:strRef>
          </c:tx>
          <c:spPr>
            <a:solidFill>
              <a:srgbClr val="0A162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C42-4399-94D4-8F654982F688}"/>
              </c:ext>
            </c:extLst>
          </c:dPt>
          <c:dPt>
            <c:idx val="1"/>
            <c:invertIfNegative val="0"/>
            <c:bubble3D val="0"/>
            <c:spPr>
              <a:solidFill>
                <a:srgbClr val="1E4D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C42-4399-94D4-8F654982F688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C42-4399-94D4-8F654982F688}"/>
              </c:ext>
            </c:extLst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C42-4399-94D4-8F654982F688}"/>
              </c:ext>
            </c:extLst>
          </c:dPt>
          <c:dPt>
            <c:idx val="4"/>
            <c:invertIfNegative val="0"/>
            <c:bubble3D val="0"/>
            <c:spPr>
              <a:solidFill>
                <a:srgbClr val="1D6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C42-4399-94D4-8F654982F688}"/>
              </c:ext>
            </c:extLst>
          </c:dPt>
          <c:dPt>
            <c:idx val="5"/>
            <c:invertIfNegative val="0"/>
            <c:bubble3D val="0"/>
            <c:spPr>
              <a:solidFill>
                <a:srgbClr val="2563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C42-4399-94D4-8F654982F688}"/>
              </c:ext>
            </c:extLst>
          </c:dPt>
          <c:dPt>
            <c:idx val="6"/>
            <c:invertIfNegative val="0"/>
            <c:bubble3D val="0"/>
            <c:spPr>
              <a:solidFill>
                <a:srgbClr val="3574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C42-4399-94D4-8F654982F688}"/>
              </c:ext>
            </c:extLst>
          </c:dPt>
          <c:dPt>
            <c:idx val="7"/>
            <c:invertIfNegative val="0"/>
            <c:bubble3D val="0"/>
            <c:spPr>
              <a:solidFill>
                <a:srgbClr val="458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C42-4399-94D4-8F654982F688}"/>
              </c:ext>
            </c:extLst>
          </c:dPt>
          <c:cat>
            <c:strRef>
              <c:f>Sheet1!$A$2:$A$9</c:f>
              <c:strCache>
                <c:ptCount val="8"/>
                <c:pt idx="0">
                  <c:v>SBI MF</c:v>
                </c:pt>
                <c:pt idx="1">
                  <c:v>ICICI Pru</c:v>
                </c:pt>
                <c:pt idx="2">
                  <c:v>HDFC MF</c:v>
                </c:pt>
                <c:pt idx="3">
                  <c:v>Nippon</c:v>
                </c:pt>
                <c:pt idx="4">
                  <c:v>Kotak</c:v>
                </c:pt>
                <c:pt idx="5">
                  <c:v>ABSL</c:v>
                </c:pt>
                <c:pt idx="6">
                  <c:v>UTI</c:v>
                </c:pt>
                <c:pt idx="7">
                  <c:v>Axis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9800000</c:v>
                </c:pt>
                <c:pt idx="1">
                  <c:v>8500000</c:v>
                </c:pt>
                <c:pt idx="2">
                  <c:v>7200000</c:v>
                </c:pt>
                <c:pt idx="3">
                  <c:v>4100000</c:v>
                </c:pt>
                <c:pt idx="4">
                  <c:v>3700000</c:v>
                </c:pt>
                <c:pt idx="5">
                  <c:v>3400000</c:v>
                </c:pt>
                <c:pt idx="6">
                  <c:v>2900000</c:v>
                </c:pt>
                <c:pt idx="7">
                  <c:v>2600000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C42-4399-94D4-8F654982F6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SIP Inflows by Year (₹ Cr)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Inflows (₹ Cr)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AD2-41ED-9360-551D3AD09FB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AD2-41ED-9360-551D3AD09FB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AD2-41ED-9360-551D3AD09FB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AD2-41ED-9360-551D3AD09FB5}"/>
              </c:ext>
            </c:extLst>
          </c:dPt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149000</c:v>
                </c:pt>
                <c:pt idx="1">
                  <c:v>336000</c:v>
                </c:pt>
                <c:pt idx="2">
                  <c:v>270000</c:v>
                </c:pt>
                <c:pt idx="3">
                  <c:v>185000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AD2-41ED-9360-551D3AD09F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Investment by Age Group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E25-421B-A219-A2F3F39BC783}"/>
              </c:ext>
            </c:extLst>
          </c:dPt>
          <c:dPt>
            <c:idx val="1"/>
            <c:bubble3D val="0"/>
            <c:spPr>
              <a:solidFill>
                <a:srgbClr val="1E4D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25-421B-A219-A2F3F39BC783}"/>
              </c:ext>
            </c:extLst>
          </c:dPt>
          <c:dPt>
            <c:idx val="2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25-421B-A219-A2F3F39BC783}"/>
              </c:ext>
            </c:extLst>
          </c:dPt>
          <c:dPt>
            <c:idx val="3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25-421B-A219-A2F3F39BC783}"/>
              </c:ext>
            </c:extLst>
          </c:dPt>
          <c:dPt>
            <c:idx val="4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25-421B-A219-A2F3F39BC78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25-421B-A219-A2F3F39BC78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E25-421B-A219-A2F3F39BC78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E25-421B-A219-A2F3F39BC78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E25-421B-A219-A2F3F39BC78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E25-421B-A219-A2F3F39BC78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26–35 yrs</c:v>
                </c:pt>
                <c:pt idx="1">
                  <c:v>36–45 yrs</c:v>
                </c:pt>
                <c:pt idx="2">
                  <c:v>18–25 yrs</c:v>
                </c:pt>
                <c:pt idx="3">
                  <c:v>46–55 yrs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1452</c:v>
                </c:pt>
                <c:pt idx="1">
                  <c:v>872</c:v>
                </c:pt>
                <c:pt idx="2">
                  <c:v>532</c:v>
                </c:pt>
                <c:pt idx="3">
                  <c:v>405</c:v>
                </c:pt>
                <c:pt idx="4">
                  <c:v>261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E25-421B-A219-A2F3F39BC7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Category-wise Net Inflows (₹ Cr)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Inflow (₹ Cr)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336-4B0C-9EA8-CB7ED379219C}"/>
              </c:ext>
            </c:extLst>
          </c:dPt>
          <c:dPt>
            <c:idx val="1"/>
            <c:invertIfNegative val="0"/>
            <c:bubble3D val="0"/>
            <c:spPr>
              <a:solidFill>
                <a:srgbClr val="1E4D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336-4B0C-9EA8-CB7ED379219C}"/>
              </c:ext>
            </c:extLst>
          </c:dPt>
          <c:dPt>
            <c:idx val="2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336-4B0C-9EA8-CB7ED379219C}"/>
              </c:ext>
            </c:extLst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336-4B0C-9EA8-CB7ED379219C}"/>
              </c:ext>
            </c:extLst>
          </c:dPt>
          <c:dPt>
            <c:idx val="4"/>
            <c:invertIfNegative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336-4B0C-9EA8-CB7ED379219C}"/>
              </c:ext>
            </c:extLst>
          </c:dPt>
          <c:dPt>
            <c:idx val="5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336-4B0C-9EA8-CB7ED379219C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336-4B0C-9EA8-CB7ED379219C}"/>
              </c:ext>
            </c:extLst>
          </c:dPt>
          <c:cat>
            <c:strRef>
              <c:f>Sheet1!$A$2:$A$8</c:f>
              <c:strCache>
                <c:ptCount val="7"/>
                <c:pt idx="0">
                  <c:v>Liquid</c:v>
                </c:pt>
                <c:pt idx="1">
                  <c:v>Sectoral</c:v>
                </c:pt>
                <c:pt idx="2">
                  <c:v>Flexi Cap</c:v>
                </c:pt>
                <c:pt idx="3">
                  <c:v>Large&amp;Mid</c:v>
                </c:pt>
                <c:pt idx="4">
                  <c:v>Short Dur</c:v>
                </c:pt>
                <c:pt idx="5">
                  <c:v>Mid Cap</c:v>
                </c:pt>
                <c:pt idx="6">
                  <c:v>Small Cap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451000</c:v>
                </c:pt>
                <c:pt idx="1">
                  <c:v>104000</c:v>
                </c:pt>
                <c:pt idx="2">
                  <c:v>64000</c:v>
                </c:pt>
                <c:pt idx="3">
                  <c:v>58000</c:v>
                </c:pt>
                <c:pt idx="4">
                  <c:v>56000</c:v>
                </c:pt>
                <c:pt idx="5">
                  <c:v>55000</c:v>
                </c:pt>
                <c:pt idx="6">
                  <c:v>47000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336-4B0C-9EA8-CB7ED37921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Risk (Std Dev %) vs 3-Year Return (%)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Funds</c:v>
                </c:pt>
              </c:strCache>
            </c:strRef>
          </c:tx>
          <c:spPr>
            <a:ln w="2540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8</c:v>
                </c:pt>
                <c:pt idx="1">
                  <c:v>12</c:v>
                </c:pt>
                <c:pt idx="2">
                  <c:v>15</c:v>
                </c:pt>
                <c:pt idx="3">
                  <c:v>18</c:v>
                </c:pt>
                <c:pt idx="4">
                  <c:v>22</c:v>
                </c:pt>
                <c:pt idx="5">
                  <c:v>25</c:v>
                </c:pt>
                <c:pt idx="6">
                  <c:v>28</c:v>
                </c:pt>
                <c:pt idx="7">
                  <c:v>31</c:v>
                </c:pt>
                <c:pt idx="8">
                  <c:v>35</c:v>
                </c:pt>
                <c:pt idx="9">
                  <c:v>42</c:v>
                </c:pt>
                <c:pt idx="10">
                  <c:v>95</c:v>
                </c:pt>
                <c:pt idx="11">
                  <c:v>148</c:v>
                </c:pt>
                <c:pt idx="12">
                  <c:v>175</c:v>
                </c:pt>
                <c:pt idx="13">
                  <c:v>195</c:v>
                </c:pt>
              </c:numCache>
            </c:numRef>
          </c:xVal>
          <c:yVal>
            <c:numRef>
              <c:f>Sheet1!$B$2:$B$15</c:f>
              <c:numCache>
                <c:formatCode>General</c:formatCode>
                <c:ptCount val="14"/>
                <c:pt idx="0">
                  <c:v>12</c:v>
                </c:pt>
                <c:pt idx="1">
                  <c:v>15</c:v>
                </c:pt>
                <c:pt idx="2">
                  <c:v>18</c:v>
                </c:pt>
                <c:pt idx="3">
                  <c:v>14</c:v>
                </c:pt>
                <c:pt idx="4">
                  <c:v>22</c:v>
                </c:pt>
                <c:pt idx="5">
                  <c:v>28</c:v>
                </c:pt>
                <c:pt idx="6">
                  <c:v>35</c:v>
                </c:pt>
                <c:pt idx="7">
                  <c:v>38</c:v>
                </c:pt>
                <c:pt idx="8">
                  <c:v>45</c:v>
                </c:pt>
                <c:pt idx="9">
                  <c:v>52</c:v>
                </c:pt>
                <c:pt idx="10">
                  <c:v>130</c:v>
                </c:pt>
                <c:pt idx="11">
                  <c:v>145</c:v>
                </c:pt>
                <c:pt idx="12">
                  <c:v>150</c:v>
                </c:pt>
                <c:pt idx="13">
                  <c:v>185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9AD-4769-8FC9-D1B973CD6B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 dirty="0">
                <a:solidFill>
                  <a:schemeClr val="bg1"/>
                </a:solidFill>
                <a:latin typeface="Arial"/>
              </a:rPr>
              <a:t>Industry AUM Growth 2022–2025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(₹ Cr)</c:v>
                </c:pt>
              </c:strCache>
            </c:strRef>
          </c:tx>
          <c:spPr>
            <a:ln w="3810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Q1'22</c:v>
                </c:pt>
                <c:pt idx="1">
                  <c:v>Q2'22</c:v>
                </c:pt>
                <c:pt idx="2">
                  <c:v>Q3'22</c:v>
                </c:pt>
                <c:pt idx="3">
                  <c:v>Q4'22</c:v>
                </c:pt>
                <c:pt idx="4">
                  <c:v>Q1'23</c:v>
                </c:pt>
                <c:pt idx="5">
                  <c:v>Q2'23</c:v>
                </c:pt>
                <c:pt idx="6">
                  <c:v>Q3'23</c:v>
                </c:pt>
                <c:pt idx="7">
                  <c:v>Q4'23</c:v>
                </c:pt>
                <c:pt idx="8">
                  <c:v>Q1'24</c:v>
                </c:pt>
                <c:pt idx="9">
                  <c:v>Q2'24</c:v>
                </c:pt>
                <c:pt idx="10">
                  <c:v>Q3'24</c:v>
                </c:pt>
                <c:pt idx="11">
                  <c:v>Q4'24</c:v>
                </c:pt>
                <c:pt idx="12">
                  <c:v>Q1'25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9800000</c:v>
                </c:pt>
                <c:pt idx="1">
                  <c:v>10200000</c:v>
                </c:pt>
                <c:pt idx="2">
                  <c:v>10800000</c:v>
                </c:pt>
                <c:pt idx="3">
                  <c:v>11500000</c:v>
                </c:pt>
                <c:pt idx="4">
                  <c:v>12500000</c:v>
                </c:pt>
                <c:pt idx="5">
                  <c:v>13800000</c:v>
                </c:pt>
                <c:pt idx="6">
                  <c:v>15200000</c:v>
                </c:pt>
                <c:pt idx="7">
                  <c:v>17100000</c:v>
                </c:pt>
                <c:pt idx="8">
                  <c:v>19500000</c:v>
                </c:pt>
                <c:pt idx="9">
                  <c:v>22800000</c:v>
                </c:pt>
                <c:pt idx="10">
                  <c:v>26400000</c:v>
                </c:pt>
                <c:pt idx="11">
                  <c:v>32100000</c:v>
                </c:pt>
                <c:pt idx="12">
                  <c:v>39000000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FA2-459A-8AA5-CA0E77366E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F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F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91325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 dirty="0">
                <a:solidFill>
                  <a:schemeClr val="bg1"/>
                </a:solidFill>
                <a:latin typeface="Arial"/>
              </a:rPr>
              <a:t>Fund Category Mix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789-4857-A4E6-335940CAC582}"/>
              </c:ext>
            </c:extLst>
          </c:dPt>
          <c:dPt>
            <c:idx val="1"/>
            <c:bubble3D val="0"/>
            <c:spPr>
              <a:solidFill>
                <a:srgbClr val="1E4D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789-4857-A4E6-335940CAC58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789-4857-A4E6-335940CAC58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789-4857-A4E6-335940CAC58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Equity (85%)</c:v>
                </c:pt>
                <c:pt idx="1">
                  <c:v>Debt (15%)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789-4857-A4E6-335940CAC5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091325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 dirty="0">
                <a:solidFill>
                  <a:schemeClr val="bg1"/>
                </a:solidFill>
                <a:latin typeface="Arial"/>
              </a:rPr>
              <a:t>By Gender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(₹ Bn)</c:v>
                </c:pt>
              </c:strCache>
            </c:strRef>
          </c:tx>
          <c:spPr>
            <a:solidFill>
              <a:srgbClr val="1E4D8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4D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9E6-4E71-925D-B126EDDF2225}"/>
              </c:ext>
            </c:extLst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E6-4E71-925D-B126EDDF2225}"/>
              </c:ext>
            </c:extLst>
          </c:dPt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2.2999999999999998</c:v>
                </c:pt>
                <c:pt idx="1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9E6-4E71-925D-B126EDDF22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F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F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91325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 dirty="0">
                <a:solidFill>
                  <a:schemeClr val="bg1"/>
                </a:solidFill>
                <a:latin typeface="Arial"/>
              </a:rPr>
              <a:t>By Age Group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16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568-4E17-BE41-90D515B75E51}"/>
              </c:ext>
            </c:extLst>
          </c:dPt>
          <c:dPt>
            <c:idx val="1"/>
            <c:bubble3D val="0"/>
            <c:spPr>
              <a:solidFill>
                <a:srgbClr val="1E4D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568-4E17-BE41-90D515B75E51}"/>
              </c:ext>
            </c:extLst>
          </c:dPt>
          <c:dPt>
            <c:idx val="2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568-4E17-BE41-90D515B75E51}"/>
              </c:ext>
            </c:extLst>
          </c:dPt>
          <c:dPt>
            <c:idx val="3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568-4E17-BE41-90D515B75E51}"/>
              </c:ext>
            </c:extLst>
          </c:dPt>
          <c:dPt>
            <c:idx val="4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568-4E17-BE41-90D515B75E5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568-4E17-BE41-90D515B75E5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568-4E17-BE41-90D515B75E5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568-4E17-BE41-90D515B75E5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568-4E17-BE41-90D515B75E51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568-4E17-BE41-90D515B75E5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26–35</c:v>
                </c:pt>
                <c:pt idx="1">
                  <c:v>36–45</c:v>
                </c:pt>
                <c:pt idx="2">
                  <c:v>18–25</c:v>
                </c:pt>
                <c:pt idx="3">
                  <c:v>46–55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1452</c:v>
                </c:pt>
                <c:pt idx="1">
                  <c:v>872</c:v>
                </c:pt>
                <c:pt idx="2">
                  <c:v>532</c:v>
                </c:pt>
                <c:pt idx="3">
                  <c:v>405</c:v>
                </c:pt>
                <c:pt idx="4">
                  <c:v>261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568-4E17-BE41-90D515B75E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091325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 dirty="0">
                <a:solidFill>
                  <a:schemeClr val="bg1"/>
                </a:solidFill>
                <a:latin typeface="Arial"/>
              </a:rPr>
              <a:t>City Tier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53F-4F96-9D41-DBB5ADBE3E5A}"/>
              </c:ext>
            </c:extLst>
          </c:dPt>
          <c:dPt>
            <c:idx val="1"/>
            <c:bubble3D val="0"/>
            <c:spPr>
              <a:solidFill>
                <a:srgbClr val="1E4D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53F-4F96-9D41-DBB5ADBE3E5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3F-4F96-9D41-DBB5ADBE3E5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53F-4F96-9D41-DBB5ADBE3E5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T30 (66%)</c:v>
                </c:pt>
                <c:pt idx="1">
                  <c:v>B30 (34%)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53F-4F96-9D41-DBB5ADBE3E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091325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 dirty="0">
                <a:solidFill>
                  <a:schemeClr val="bg1"/>
                </a:solidFill>
                <a:latin typeface="Arial"/>
              </a:rPr>
              <a:t>Top Cities by Investment (₹ Mn)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Mn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Kolkata</c:v>
                </c:pt>
                <c:pt idx="1">
                  <c:v>Hyderabad</c:v>
                </c:pt>
                <c:pt idx="2">
                  <c:v>Gurugram</c:v>
                </c:pt>
                <c:pt idx="3">
                  <c:v>Coimbatore</c:v>
                </c:pt>
                <c:pt idx="4">
                  <c:v>Bhopal</c:v>
                </c:pt>
                <c:pt idx="5">
                  <c:v>Ahmedabad</c:v>
                </c:pt>
                <c:pt idx="6">
                  <c:v>Amritsar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297</c:v>
                </c:pt>
                <c:pt idx="1">
                  <c:v>290</c:v>
                </c:pt>
                <c:pt idx="2">
                  <c:v>224</c:v>
                </c:pt>
                <c:pt idx="3">
                  <c:v>170</c:v>
                </c:pt>
                <c:pt idx="4">
                  <c:v>166</c:v>
                </c:pt>
                <c:pt idx="5">
                  <c:v>161</c:v>
                </c:pt>
                <c:pt idx="6">
                  <c:v>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DC-414C-98C0-1C44E451F3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F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F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9132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247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1148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11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BLUESTOCK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400" dirty="0">
                <a:solidFill>
                  <a:srgbClr val="06B6D4"/>
                </a:solidFill>
              </a:rPr>
              <a:t>Mutual Fund Industry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8575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0F0"/>
                </a:solidFill>
              </a:rPr>
              <a:t>Capstone Project  |  Power BI &amp; Python  |  2025</a:t>
            </a:r>
          </a:p>
          <a:p>
            <a:r>
              <a:rPr lang="en-US" sz="1400" dirty="0">
                <a:solidFill>
                  <a:srgbClr val="00B0F0"/>
                </a:solidFill>
              </a:rPr>
              <a:t>Prepared By: Sujal Hingmire</a:t>
            </a:r>
            <a:endParaRPr lang="en-US" sz="1300" dirty="0">
              <a:solidFill>
                <a:srgbClr val="00B0F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E4D8C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015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</a:rPr>
              <a:t>₹39M Cr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7856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B8D4"/>
                </a:solidFill>
              </a:rPr>
              <a:t>Total AUM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338328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E4D8C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4015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</a:rPr>
              <a:t>940K Cr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06040" y="37856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B8D4"/>
                </a:solidFill>
              </a:rPr>
              <a:t>SIP Inflows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338328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E4D8C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4015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</a:rPr>
              <a:t>40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37856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B8D4"/>
                </a:solidFill>
              </a:rPr>
              <a:t>Schemes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338328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E4D8C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34015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</a:rPr>
              <a:t>26.12 Cr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03720" y="37856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B8D4"/>
                </a:solidFill>
              </a:rPr>
              <a:t>Total Folios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FA5"/>
                </a:solidFill>
              </a:rPr>
              <a:t>Presented by: Data Analytics Team  |  June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91B2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2704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No unified view of India's ₹50+ trillion mutual fund industry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09397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Fragmented data across AMCs, fund categories, and time periods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8833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66090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Investors lack tools to compare risk, return, and NAV trends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55264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22783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SIP growth patterns not correlated with market indices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2219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79476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Investor demographics poorly understood by fund houses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960120"/>
            <a:ext cx="3931920" cy="3840480"/>
          </a:xfrm>
          <a:prstGeom prst="roundRect">
            <a:avLst>
              <a:gd name="adj" fmla="val 2857"/>
            </a:avLst>
          </a:prstGeom>
          <a:solidFill>
            <a:srgbClr val="0A1628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</a:rPr>
              <a:t>OUR OBJECTIVES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155448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1808" y="152704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Build an interactive 4-dashboard Power BI solution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212140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21808" y="209397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Visualize AUM growth, SIP trends &amp; fund performance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68833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21808" y="266090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Enable risk-return comparison across categories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325526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322783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Profile investors by city, age, gender &amp; KYC status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382219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21808" y="379476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Correlate SIP inflows with market index movements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207008"/>
            <a:ext cx="457200" cy="457200"/>
          </a:xfrm>
          <a:prstGeom prst="ellipse">
            <a:avLst/>
          </a:prstGeom>
          <a:solidFill>
            <a:srgbClr val="1E4D8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197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Industry AUM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Fund-house level AUM by quarter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2022–2025 | 8 major AMCs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4992" y="120700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197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13632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NAV History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6916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Daily NAV for 40 schemes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Jan 2023 – Jun 2026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20700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1197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48272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Investor Records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16916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32,780 investor profiles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City, age, gender, KYC status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" y="3081528"/>
            <a:ext cx="457200" cy="457200"/>
          </a:xfrm>
          <a:prstGeom prst="ellipse">
            <a:avLst/>
          </a:prstGeom>
          <a:solidFill>
            <a:srgbClr val="D9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78992" y="30815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SIP Inflow 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5661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Monthly SIP inflows (₹ Cr)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Category &amp; industry level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64992" y="3081528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13632" y="30815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Market Indices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5661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NIFTY50, NIFTY500, BSE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Weekly closing values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28803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3081528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0488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48272" y="30815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Fund Metadata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35661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40 schemes × fund house,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category, plan type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Tech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B6D4"/>
                </a:solidFill>
              </a:rPr>
              <a:t>End-to-end data pipeline from raw sources to interactive dashboards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508760" cy="3291840"/>
          </a:xfrm>
          <a:prstGeom prst="roundRect">
            <a:avLst>
              <a:gd name="adj" fmla="val 7273"/>
            </a:avLst>
          </a:prstGeom>
          <a:solidFill>
            <a:srgbClr val="1D4ED8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Sources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" y="23957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AMFI / NSE API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" y="28529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Investor CSV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33101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Index Data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74520" y="265176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75688" y="1234440"/>
            <a:ext cx="1508760" cy="3291840"/>
          </a:xfrm>
          <a:prstGeom prst="roundRect">
            <a:avLst>
              <a:gd name="adj" fmla="val 7273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75688" y="1371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75688" y="1920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Pipeline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23957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Python Pandas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48840" y="28529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Cleaning &amp; EDA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48840" y="33101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Feature Eng.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84448" y="265176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85616" y="1234440"/>
            <a:ext cx="1508760" cy="3291840"/>
          </a:xfrm>
          <a:prstGeom prst="roundRect">
            <a:avLst>
              <a:gd name="adj" fmla="val 7273"/>
            </a:avLst>
          </a:prstGeom>
          <a:solidFill>
            <a:srgbClr val="065F46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85616" y="1371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85616" y="1920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Storage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58768" y="23957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CSV Flat Files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58768" y="28529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Structured Tables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58768" y="33101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5 Datasets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94376" y="265176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95544" y="1234440"/>
            <a:ext cx="1508760" cy="3291840"/>
          </a:xfrm>
          <a:prstGeom prst="roundRect">
            <a:avLst>
              <a:gd name="adj" fmla="val 7273"/>
            </a:avLst>
          </a:prstGeom>
          <a:solidFill>
            <a:srgbClr val="B45309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95544" y="1371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95544" y="1920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Visualization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68696" y="23957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Power BI Desktop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68696" y="28529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4 Dashboards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68696" y="33101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20+ Visuals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04304" y="265176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05472" y="1234440"/>
            <a:ext cx="1508760" cy="3291840"/>
          </a:xfrm>
          <a:prstGeom prst="roundRect">
            <a:avLst>
              <a:gd name="adj" fmla="val 7273"/>
            </a:avLst>
          </a:prstGeom>
          <a:solidFill>
            <a:srgbClr val="9F1239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05472" y="1371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205472" y="1920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78624" y="23957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Interactive PDF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78624" y="28529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Filtered Views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78624" y="33101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Stakeholder UX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TECH STACK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4572000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1E4D8C">
              <a:alpha val="6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72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Python 3.11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01368" y="4572000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1E4D8C">
              <a:alpha val="6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01368" y="4572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Pandas 2.0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36976" y="4572000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1E4D8C">
              <a:alpha val="6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36976" y="4572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Power BI Desktop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72584" y="4572000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1E4D8C">
              <a:alpha val="6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72584" y="4572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DAX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08192" y="4572000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1E4D8C">
              <a:alpha val="6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08192" y="4572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Matplotlib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543800" y="4572000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1E4D8C">
              <a:alpha val="6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43800" y="4572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Jupyter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Industry &amp; AUM Analysis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960120"/>
            <a:ext cx="2788920" cy="804672"/>
          </a:xfrm>
          <a:prstGeom prst="roundRect">
            <a:avLst>
              <a:gd name="adj" fmla="val 11364"/>
            </a:avLst>
          </a:prstGeom>
          <a:solidFill>
            <a:srgbClr val="0A1628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89320" y="10058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₹39M Cr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989320" y="13898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Total Industry AUM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989320" y="1874520"/>
            <a:ext cx="2788920" cy="804672"/>
          </a:xfrm>
          <a:prstGeom prst="roundRect">
            <a:avLst>
              <a:gd name="adj" fmla="val 11364"/>
            </a:avLst>
          </a:prstGeom>
          <a:solidFill>
            <a:srgbClr val="1E4D8C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89320" y="19202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989320" y="23042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Equity Fund Distribution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89320" y="2788920"/>
            <a:ext cx="2788920" cy="804672"/>
          </a:xfrm>
          <a:prstGeom prst="roundRect">
            <a:avLst>
              <a:gd name="adj" fmla="val 11364"/>
            </a:avLst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89320" y="28346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 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989320" y="32186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AUM Growth 2022–2025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89320" y="3703320"/>
            <a:ext cx="2788920" cy="804672"/>
          </a:xfrm>
          <a:prstGeom prst="roundRect">
            <a:avLst>
              <a:gd name="adj" fmla="val 11364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89320" y="37490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989320" y="41330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Major AMCs Tracked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SBI Mutual Fund leads with 25% market share, followed by ICICI Prudential. Equity category dominates at 85% of all schemes.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Investor Profile &amp; SIP Trends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40233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572000" y="960120"/>
          <a:ext cx="4206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4290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365760" y="3493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🏙️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6576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65.86%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65760" y="42611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from T30 cities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514600" y="34290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E4D8C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514600" y="3493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♂️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251460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₹2.3 Bn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514600" y="42611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Male investors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663440" y="34290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663440" y="3493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6344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91.97%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63440" y="42611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KYC Verified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812280" y="34290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E4D8C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812280" y="3493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681228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₹297M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812280" y="42611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Top city (Kolkata)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— Fund Category Analysis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960120"/>
            <a:ext cx="2788920" cy="1417320"/>
          </a:xfrm>
          <a:prstGeom prst="roundRect">
            <a:avLst>
              <a:gd name="adj" fmla="val 7742"/>
            </a:avLst>
          </a:prstGeom>
          <a:solidFill>
            <a:srgbClr val="0A1628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80760" y="10241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KEY FINDING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80760" y="129844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Liquid funds dominate inflows at ₹451K Cr — over 4× Sectoral/Thematic funds at #2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989320" y="2514600"/>
            <a:ext cx="2788920" cy="1417320"/>
          </a:xfrm>
          <a:prstGeom prst="roundRect">
            <a:avLst>
              <a:gd name="adj" fmla="val 7742"/>
            </a:avLst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80760" y="25786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A1628"/>
                </a:solidFill>
              </a:rPr>
              <a:t>TREND INSIGHT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80760" y="285292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Small Cap &amp; Mid Cap funds gained traction post-2023 market rally with strong retail participation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4069080"/>
            <a:ext cx="2788920" cy="685800"/>
          </a:xfrm>
          <a:prstGeom prst="roundRect">
            <a:avLst>
              <a:gd name="adj" fmla="val 13333"/>
            </a:avLst>
          </a:prstGeom>
          <a:solidFill>
            <a:srgbClr val="E8F4FD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413308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40 schemes tracked across 12 categories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— Risk vs Return &amp; NAV Trends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960120"/>
            <a:ext cx="2788920" cy="9144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80760" y="10058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0B8D4"/>
                </a:solidFill>
              </a:rPr>
              <a:t>Highest NAV Growth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80760" y="12527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ABSL Small Cap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80760" y="152704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</a:rPr>
              <a:t>+185% over 3 yrs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89320" y="2011680"/>
            <a:ext cx="2788920" cy="914400"/>
          </a:xfrm>
          <a:prstGeom prst="roundRect">
            <a:avLst>
              <a:gd name="adj" fmla="val 10000"/>
            </a:avLst>
          </a:prstGeom>
          <a:solidFill>
            <a:srgbClr val="1E4D8C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80760" y="20574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0B8D4"/>
                </a:solidFill>
              </a:rPr>
              <a:t>Most Stable Fund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80760" y="230428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ABSL Liquid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80760" y="257860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</a:rPr>
              <a:t>Std Dev &lt; 0.5%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89320" y="3063240"/>
            <a:ext cx="2788920" cy="914400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80760" y="31089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0B8D4"/>
                </a:solidFill>
              </a:rPr>
              <a:t>Best Risk-Adj Return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80760" y="33558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Axis Bluechip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80760" y="36301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</a:rPr>
              <a:t>Sharpe ~1.8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Small Cap &amp; Mid Cap funds show highest volatility but deliver superior 3-year returns. Liquid funds cluster near zero risk.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1 — Industry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B6D4"/>
                </a:solidFill>
              </a:rPr>
              <a:t>Total AUM  •  SIP Inflows  •  Folio Count  •  AUM Growth Trend  •  Category Distribution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E4D8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241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₹39M Cr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435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B8D4"/>
                </a:solidFill>
              </a:rPr>
              <a:t>Total AUM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E4D8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241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940K Cr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68880" y="1435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B8D4"/>
                </a:solidFill>
              </a:rPr>
              <a:t>SIP Inflows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E4D8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241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26.12 Cr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1435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B8D4"/>
                </a:solidFill>
              </a:rPr>
              <a:t>Total Folios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00584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E4D8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241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1435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B8D4"/>
                </a:solidFill>
              </a:rPr>
              <a:t>Schemes</a:t>
            </a:r>
            <a:endParaRPr lang="en-US" sz="900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2338251022"/>
              </p:ext>
            </p:extLst>
          </p:nvPr>
        </p:nvGraphicFramePr>
        <p:xfrm>
          <a:off x="365760" y="1920240"/>
          <a:ext cx="51206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"/>
          <p:cNvGraphicFramePr/>
          <p:nvPr>
            <p:extLst>
              <p:ext uri="{D42A27DB-BD31-4B8C-83A1-F6EECF244321}">
                <p14:modId xmlns:p14="http://schemas.microsoft.com/office/powerpoint/2010/main" val="2051933289"/>
              </p:ext>
            </p:extLst>
          </p:nvPr>
        </p:nvGraphicFramePr>
        <p:xfrm>
          <a:off x="5669280" y="1920240"/>
          <a:ext cx="31089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2 — Investor Analytics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B6D4"/>
                </a:solidFill>
              </a:rPr>
              <a:t>Gender  •  Age Group  •  City Tier  •  KYC Status  •  Top Cities by Investment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709487215"/>
              </p:ext>
            </p:extLst>
          </p:nvPr>
        </p:nvGraphicFramePr>
        <p:xfrm>
          <a:off x="365760" y="1005840"/>
          <a:ext cx="23774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3148293989"/>
              </p:ext>
            </p:extLst>
          </p:nvPr>
        </p:nvGraphicFramePr>
        <p:xfrm>
          <a:off x="2926080" y="1005840"/>
          <a:ext cx="27432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>
            <p:extLst>
              <p:ext uri="{D42A27DB-BD31-4B8C-83A1-F6EECF244321}">
                <p14:modId xmlns:p14="http://schemas.microsoft.com/office/powerpoint/2010/main" val="3739435327"/>
              </p:ext>
            </p:extLst>
          </p:nvPr>
        </p:nvGraphicFramePr>
        <p:xfrm>
          <a:off x="5852160" y="1005840"/>
          <a:ext cx="29260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Chart 3"/>
          <p:cNvGraphicFramePr/>
          <p:nvPr>
            <p:extLst>
              <p:ext uri="{D42A27DB-BD31-4B8C-83A1-F6EECF244321}">
                <p14:modId xmlns:p14="http://schemas.microsoft.com/office/powerpoint/2010/main" val="3648998412"/>
              </p:ext>
            </p:extLst>
          </p:nvPr>
        </p:nvGraphicFramePr>
        <p:xfrm>
          <a:off x="365760" y="3520440"/>
          <a:ext cx="841248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Business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43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A16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" y="110642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AUM Tripled in 3 Years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" y="141732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India's MF industry grew from ~₹13M Cr in 2022 to ₹39M Cr by 2025, reflecting massive retail participation.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143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4D8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04688" y="110642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SIP Momentum Peaked in 2023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04688" y="141732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SIP inflows surged 126% from 2022 to 2023 (₹149K→₹336K Cr), signaling a behavioral shift to systematic investing.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468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243230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Millennial Investors Dominate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274320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The 26–35 age group contributes ₹1,452M — the largest segment, indicating strong youth adoption.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468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04688" y="243230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T30 Cities Drive 66% of AUM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04688" y="274320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Tier-1 cities remain the core, but B30 cities growing rapidly — signaling rural financial inclusion.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794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15568" y="375818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Small Cap Highest 3-Year Returns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15568" y="406908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Small Cap funds delivered 185%+ 3-year returns with commensurate risk — ideal for long-horizon investors.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794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B4530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04688" y="375818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91.97% KYC Compliance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04688" y="406908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Near-universal KYC verification indicates strong regulatory adherence and trust in digital onboarding.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657600" cy="3657600"/>
          </a:xfrm>
          <a:prstGeom prst="ellipse">
            <a:avLst/>
          </a:prstGeom>
          <a:solidFill>
            <a:srgbClr val="1E4D8C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36576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365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BLUESTOCK  |  CAPSTONE 2025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6B6D4"/>
                </a:solidFill>
              </a:rPr>
              <a:t>Mutual Fund Industry Analytics Dashboard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0" y="2880360"/>
            <a:ext cx="45720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089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1E4D8C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821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Dashboard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3840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Power BI — 4 Interactive Views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31089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1E4D8C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31821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66160" y="35661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Pipeline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160" y="3840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Python · Pandas · Matplotlib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31089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1E4D8C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1821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17920" y="35661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Dataset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3840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5F0"/>
                </a:solidFill>
              </a:rPr>
              <a:t>5 CSV files · 32K+ records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7FA5"/>
                </a:solidFill>
              </a:rPr>
              <a:t>Questions &amp; Discussion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832</Words>
  <Application>Microsoft Office PowerPoint</Application>
  <PresentationFormat>On-screen Show (16:9)</PresentationFormat>
  <Paragraphs>211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 Dashboard</dc:title>
  <dc:subject>PptxGenJS Presentation</dc:subject>
  <dc:creator>PptxGenJS</dc:creator>
  <cp:lastModifiedBy>Sujal Hingmire</cp:lastModifiedBy>
  <cp:revision>2</cp:revision>
  <dcterms:created xsi:type="dcterms:W3CDTF">2026-06-11T19:08:31Z</dcterms:created>
  <dcterms:modified xsi:type="dcterms:W3CDTF">2026-06-11T19:18:42Z</dcterms:modified>
</cp:coreProperties>
</file>